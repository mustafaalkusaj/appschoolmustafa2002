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4285C"/>
          </a:solidFill>
          <a:ln/>
        </p:spPr>
      </p:sp>
      <p:sp>
        <p:nvSpPr>
          <p:cNvPr id="3" name="Shape 1"/>
          <p:cNvSpPr/>
          <p:nvPr/>
        </p:nvSpPr>
        <p:spPr>
          <a:xfrm>
            <a:off x="315468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090672" y="0"/>
            <a:ext cx="36576" cy="5143500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-731520"/>
            <a:ext cx="2926080" cy="292608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3200400"/>
            <a:ext cx="1828800" cy="182880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1371600"/>
            <a:ext cx="731520" cy="731520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2011680" cy="2011680"/>
          </a:xfrm>
          <a:prstGeom prst="ellipse">
            <a:avLst/>
          </a:prstGeom>
          <a:solidFill>
            <a:srgbClr val="2563EB">
              <a:alpha val="8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8016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🏫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1440" y="3520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0"/>
            <a:ext cx="5852160" cy="502920"/>
          </a:xfrm>
          <a:prstGeom prst="rect">
            <a:avLst/>
          </a:prstGeom>
          <a:solidFill>
            <a:srgbClr val="1A3270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إداري متكامل  ·  Production Ready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64008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إدارة المدارس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337560" y="150876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متعدد الفروع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337560" y="23774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حل متكامل · آمن · قابل للتوسع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37560" y="2944368"/>
            <a:ext cx="32004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294436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8823960" y="3127248"/>
            <a:ext cx="1280160" cy="329184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23960" y="31272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06640" y="3127248"/>
            <a:ext cx="1280160" cy="329184"/>
          </a:xfrm>
          <a:prstGeom prst="rect">
            <a:avLst/>
          </a:prstGeom>
          <a:solidFill>
            <a:srgbClr val="3178C6">
              <a:alpha val="25000"/>
            </a:srgbClr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31272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89320" y="3127248"/>
            <a:ext cx="1280160" cy="329184"/>
          </a:xfrm>
          <a:prstGeom prst="rect">
            <a:avLst/>
          </a:prstGeom>
          <a:solidFill>
            <a:srgbClr val="3ECF8E">
              <a:alpha val="25000"/>
            </a:srgbClr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31272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3127248"/>
            <a:ext cx="1280160" cy="329184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1272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7560" y="3703320"/>
            <a:ext cx="1280160" cy="91440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37560" y="3703320"/>
            <a:ext cx="12801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377647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337560" y="42519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703320"/>
            <a:ext cx="1280160" cy="91440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703320"/>
            <a:ext cx="12801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77647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754880" y="42519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أدوار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3703320"/>
            <a:ext cx="1280160" cy="91440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3703320"/>
            <a:ext cx="12801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377647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172200" y="42519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فرع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589520" y="3703320"/>
            <a:ext cx="1280160" cy="91440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589520" y="3703320"/>
            <a:ext cx="12801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7589520" y="377647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589520" y="42519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طبقات أمان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91840" y="4873752"/>
            <a:ext cx="5852160" cy="2697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3383280" y="4873752"/>
            <a:ext cx="56692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Multi-Branch School Management System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28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96696"/>
            <a:ext cx="9144000" cy="54864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-365760"/>
            <a:ext cx="1371600" cy="13716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نظرة عامة على المشروع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0" y="256032"/>
            <a:ext cx="2011680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25603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3931920" cy="356616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170432"/>
            <a:ext cx="393192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137160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🏫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" y="2331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ويب إداري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" y="2788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متكامل وجاهز للإنتاج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54864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29184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مدارس متعددة الفروع مع عزل كامل للبيانات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67328"/>
            <a:ext cx="54864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767328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ثنائية اللغة مع دعم RTL كامل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42816"/>
            <a:ext cx="54864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424281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أداء عالٍ — استجابة أقل من 100ms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34840" y="1170432"/>
            <a:ext cx="219456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1170432"/>
            <a:ext cx="21945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Shape 21"/>
          <p:cNvSpPr/>
          <p:nvPr/>
        </p:nvSpPr>
        <p:spPr>
          <a:xfrm>
            <a:off x="5257800" y="1316736"/>
            <a:ext cx="566928" cy="566928"/>
          </a:xfrm>
          <a:prstGeom prst="ellipse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13167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26280" y="197510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متعدد الفروع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26280" y="23774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عزل كامل</a:t>
            </a:r>
            <a:endParaRPr lang="en-US" sz="950" dirty="0"/>
          </a:p>
          <a:p>
            <a:pPr rtl="1"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مستوى DB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66560" y="1170432"/>
            <a:ext cx="219456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66560" y="1170432"/>
            <a:ext cx="21945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7589520" y="1316736"/>
            <a:ext cx="566928" cy="566928"/>
          </a:xfrm>
          <a:prstGeom prst="ellipse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0" y="13167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0" y="197510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أمان متعدد الطبقات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23774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طبقات حماية</a:t>
            </a:r>
            <a:endParaRPr lang="en-US" sz="950" dirty="0"/>
          </a:p>
          <a:p>
            <a:pPr rtl="1"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متكاملة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34840" y="2999232"/>
            <a:ext cx="219456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34840" y="2999232"/>
            <a:ext cx="21945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5257800" y="3145536"/>
            <a:ext cx="566928" cy="566928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257800" y="31455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26280" y="380390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المستثمر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26280" y="42062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إحصاءات تجميعية</a:t>
            </a:r>
            <a:endParaRPr lang="en-US" sz="950" dirty="0"/>
          </a:p>
          <a:p>
            <a:pPr rtl="1"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عبر الفروع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66560" y="2999232"/>
            <a:ext cx="219456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66560" y="2999232"/>
            <a:ext cx="21945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Shape 39"/>
          <p:cNvSpPr/>
          <p:nvPr/>
        </p:nvSpPr>
        <p:spPr>
          <a:xfrm>
            <a:off x="7589520" y="3145536"/>
            <a:ext cx="566928" cy="566928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589520" y="31455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58000" y="380390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أداء عالٍ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58000" y="42062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1-5ms استعلام</a:t>
            </a:r>
            <a:endParaRPr lang="en-US" sz="950" dirty="0"/>
          </a:p>
          <a:p>
            <a:pPr rtl="1"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فرع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828032"/>
            <a:ext cx="9144000" cy="914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28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96696"/>
            <a:ext cx="9144000" cy="54864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-365760"/>
            <a:ext cx="1371600" cy="13716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المستخدمون والأدوار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0" y="256032"/>
            <a:ext cx="2011680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25603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مستويات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170432"/>
            <a:ext cx="420624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70432"/>
            <a:ext cx="64008" cy="7863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335024"/>
            <a:ext cx="457200" cy="457200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335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1752" y="1828800"/>
            <a:ext cx="457200" cy="91440"/>
          </a:xfrm>
          <a:prstGeom prst="rect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41832" y="1225296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المستثمر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1832" y="1591056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تجميعية — جميع الفروع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170432"/>
            <a:ext cx="420624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170432"/>
            <a:ext cx="64008" cy="78638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0" y="1335024"/>
            <a:ext cx="457200" cy="457200"/>
          </a:xfrm>
          <a:prstGeom prst="ellipse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335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🏫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82312" y="1828800"/>
            <a:ext cx="457200" cy="91440"/>
          </a:xfrm>
          <a:prstGeom prst="rect">
            <a:avLst/>
          </a:prstGeom>
          <a:solidFill>
            <a:srgbClr val="EF4444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22392" y="1225296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مدير المدرسة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22392" y="1591056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كاملة للمدرسة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2112264"/>
            <a:ext cx="420624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112264"/>
            <a:ext cx="64008" cy="78638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2276856"/>
            <a:ext cx="457200" cy="45720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276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🏢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1752" y="2770632"/>
            <a:ext cx="457200" cy="91440"/>
          </a:xfrm>
          <a:prstGeom prst="rect">
            <a:avLst/>
          </a:prstGeom>
          <a:solidFill>
            <a:srgbClr val="F97316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41832" y="2167128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مدير الفرع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1832" y="2532888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فرع واحد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2112264"/>
            <a:ext cx="420624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112264"/>
            <a:ext cx="64008" cy="7863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2276856"/>
            <a:ext cx="457200" cy="457200"/>
          </a:xfrm>
          <a:prstGeom prst="ellipse">
            <a:avLst/>
          </a:prstGeom>
          <a:solidFill>
            <a:srgbClr val="2563EB">
              <a:alpha val="8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2276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👨‍🏫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82312" y="2770632"/>
            <a:ext cx="457200" cy="91440"/>
          </a:xfrm>
          <a:prstGeom prst="rect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422392" y="2167128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الأستاذ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22392" y="2532888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الطلاب والحضور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28600" y="3054096"/>
            <a:ext cx="420624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28600" y="3054096"/>
            <a:ext cx="64008" cy="78638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" y="3218688"/>
            <a:ext cx="457200" cy="457200"/>
          </a:xfrm>
          <a:prstGeom prst="ellipse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🎓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01752" y="3712464"/>
            <a:ext cx="457200" cy="91440"/>
          </a:xfrm>
          <a:prstGeom prst="rect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41832" y="3108960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41832" y="3474720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المعلومات الشخصية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09160" y="3054096"/>
            <a:ext cx="420624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3054096"/>
            <a:ext cx="64008" cy="7863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6" name="Shape 44"/>
          <p:cNvSpPr/>
          <p:nvPr/>
        </p:nvSpPr>
        <p:spPr>
          <a:xfrm>
            <a:off x="4846320" y="3218688"/>
            <a:ext cx="457200" cy="45720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💰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82312" y="3712464"/>
            <a:ext cx="457200" cy="91440"/>
          </a:xfrm>
          <a:prstGeom prst="rect">
            <a:avLst/>
          </a:prstGeom>
          <a:solidFill>
            <a:srgbClr val="8B5CF6">
              <a:alpha val="6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422392" y="3108960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موظف الحسابات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22392" y="3474720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المالية والمعاملات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28600" y="3995928"/>
            <a:ext cx="420624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28600" y="3995928"/>
            <a:ext cx="64008" cy="7863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3" name="Shape 51"/>
          <p:cNvSpPr/>
          <p:nvPr/>
        </p:nvSpPr>
        <p:spPr>
          <a:xfrm>
            <a:off x="365760" y="4160520"/>
            <a:ext cx="457200" cy="457200"/>
          </a:xfrm>
          <a:prstGeom prst="ellipse">
            <a:avLst/>
          </a:prstGeom>
          <a:solidFill>
            <a:srgbClr val="14B8A6">
              <a:alpha val="8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👥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01752" y="4654296"/>
            <a:ext cx="457200" cy="91440"/>
          </a:xfrm>
          <a:prstGeom prst="rect">
            <a:avLst/>
          </a:prstGeom>
          <a:solidFill>
            <a:srgbClr val="14B8A6">
              <a:alpha val="6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941832" y="4050792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موظف الموارد البشرية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941832" y="4416552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الموظفين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709160" y="3995928"/>
            <a:ext cx="420624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709160" y="3995928"/>
            <a:ext cx="64008" cy="78638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0" name="Shape 58"/>
          <p:cNvSpPr/>
          <p:nvPr/>
        </p:nvSpPr>
        <p:spPr>
          <a:xfrm>
            <a:off x="4846320" y="4160520"/>
            <a:ext cx="457200" cy="457200"/>
          </a:xfrm>
          <a:prstGeom prst="ellipse">
            <a:avLst/>
          </a:prstGeom>
          <a:solidFill>
            <a:srgbClr val="94A3B8">
              <a:alpha val="8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48463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🔍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782312" y="4654296"/>
            <a:ext cx="457200" cy="91440"/>
          </a:xfrm>
          <a:prstGeom prst="rect">
            <a:avLst/>
          </a:prstGeom>
          <a:solidFill>
            <a:srgbClr val="94A3B8">
              <a:alpha val="6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5422392" y="4050792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مستخدم صفحة واحدة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422392" y="4416552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وصول محدود — صفحة واحدة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6" name="Shape 64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7" name="Text 6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28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96696"/>
            <a:ext cx="9144000" cy="54864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-365760"/>
            <a:ext cx="1371600" cy="13716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المميزات الرئيسية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0" y="256032"/>
            <a:ext cx="2011680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25603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2834640" cy="173736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1170432"/>
            <a:ext cx="28346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1161288" y="1353312"/>
            <a:ext cx="868680" cy="868680"/>
          </a:xfrm>
          <a:prstGeom prst="ellipse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61288" y="135331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2608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عزل الفروع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608" y="259689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Proxy Pattern</a:t>
            </a:r>
            <a:endParaRPr lang="en-US" sz="900" dirty="0"/>
          </a:p>
          <a:p>
            <a:pPr rtl="1"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مستوى قاعدة البيانات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82112" y="1170432"/>
            <a:ext cx="2834640" cy="173736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82112" y="1170432"/>
            <a:ext cx="28346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4142232" y="1353312"/>
            <a:ext cx="868680" cy="868680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142232" y="135331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73552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مصادقة JWT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73552" y="259689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توكن آمن 24 ساعة</a:t>
            </a:r>
            <a:endParaRPr lang="en-US" sz="900" dirty="0"/>
          </a:p>
          <a:p>
            <a:pPr rtl="1"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تحقق في كل طلب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63056" y="1170432"/>
            <a:ext cx="2834640" cy="173736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1170432"/>
            <a:ext cx="28346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Shape 21"/>
          <p:cNvSpPr/>
          <p:nvPr/>
        </p:nvSpPr>
        <p:spPr>
          <a:xfrm>
            <a:off x="7123176" y="1353312"/>
            <a:ext cx="868680" cy="868680"/>
          </a:xfrm>
          <a:prstGeom prst="ellipse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123176" y="135331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54496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تشفير PBKDF2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54496" y="259689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تكرار</a:t>
            </a:r>
            <a:endParaRPr lang="en-US" sz="900" dirty="0"/>
          </a:p>
          <a:p>
            <a:pPr rtl="1"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ملح عشوائي لكل كلمة مرور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1168" y="3090672"/>
            <a:ext cx="2834640" cy="173736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168" y="3090672"/>
            <a:ext cx="28346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1161288" y="3273552"/>
            <a:ext cx="868680" cy="868680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161288" y="327355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92608" y="4206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نقطة API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92608" y="451713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جاهزة للإنتاج</a:t>
            </a:r>
            <a:endParaRPr lang="en-US" sz="900" dirty="0"/>
          </a:p>
          <a:p>
            <a:pPr rtl="1"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 توثيق كامل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82112" y="3090672"/>
            <a:ext cx="2834640" cy="173736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82112" y="3090672"/>
            <a:ext cx="283464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5" name="Shape 33"/>
          <p:cNvSpPr/>
          <p:nvPr/>
        </p:nvSpPr>
        <p:spPr>
          <a:xfrm>
            <a:off x="4142232" y="3273552"/>
            <a:ext cx="868680" cy="868680"/>
          </a:xfrm>
          <a:prstGeom prst="ellipse">
            <a:avLst/>
          </a:prstGeom>
          <a:solidFill>
            <a:srgbClr val="14B8A6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142232" y="327355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273552" y="4206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تدقيق شامل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273552" y="451713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العمليات مسجلة</a:t>
            </a:r>
            <a:endParaRPr lang="en-US" sz="900" dirty="0"/>
          </a:p>
          <a:p>
            <a:pPr rtl="1"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 للامتثال القانوني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63056" y="3090672"/>
            <a:ext cx="2834640" cy="173736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63056" y="3090672"/>
            <a:ext cx="2834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1" name="Shape 39"/>
          <p:cNvSpPr/>
          <p:nvPr/>
        </p:nvSpPr>
        <p:spPr>
          <a:xfrm>
            <a:off x="7123176" y="3273552"/>
            <a:ext cx="868680" cy="868680"/>
          </a:xfrm>
          <a:prstGeom prst="ellipse">
            <a:avLst/>
          </a:prstGeom>
          <a:solidFill>
            <a:srgbClr val="F97316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123176" y="327355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🗑️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254496" y="4206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حذف لطيف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254496" y="451713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Delete</a:t>
            </a:r>
            <a:endParaRPr lang="en-US" sz="900" dirty="0"/>
          </a:p>
          <a:p>
            <a:pPr rtl="1"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حفظ السجل التاريخي كاملاً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4285C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28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96696"/>
            <a:ext cx="9144000" cy="54864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-365760"/>
            <a:ext cx="1371600" cy="13716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الوحدات الوظيفية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0" y="256032"/>
            <a:ext cx="2011680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25603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Modules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4251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1170432"/>
            <a:ext cx="64008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" y="1316736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" y="13167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75888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126187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الطلاب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70078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كامل — إضافة / تعديل / حذف / عرض تفصيلي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81728" y="1170432"/>
            <a:ext cx="4251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1728" y="1170432"/>
            <a:ext cx="64008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4818888" y="1316736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818888" y="13167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56448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0" y="126187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تتبع الحضور والغياب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170078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يومي · كشف التكرار التلقائي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01168" y="2423160"/>
            <a:ext cx="4251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" y="2423160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338328" y="2569464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" y="25694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75888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05840" y="2514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الحسابات والمعاملات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295351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الدخل والمصروفات · رصيد تلقائي فوري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81728" y="2423160"/>
            <a:ext cx="4251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81728" y="2423160"/>
            <a:ext cx="64008" cy="10972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Shape 30"/>
          <p:cNvSpPr/>
          <p:nvPr/>
        </p:nvSpPr>
        <p:spPr>
          <a:xfrm>
            <a:off x="4818888" y="2569464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4818888" y="25694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56448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486400" y="2514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الموظفين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0" y="295351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ملفات الموظفين · البيانات الوظيفية الكاملة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01168" y="3675888"/>
            <a:ext cx="4251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1168" y="3675888"/>
            <a:ext cx="64008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9" name="Shape 37"/>
          <p:cNvSpPr/>
          <p:nvPr/>
        </p:nvSpPr>
        <p:spPr>
          <a:xfrm>
            <a:off x="338328" y="3822192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0" name="Text 38"/>
          <p:cNvSpPr/>
          <p:nvPr/>
        </p:nvSpPr>
        <p:spPr>
          <a:xfrm>
            <a:off x="338328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75888" y="3813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005840" y="376732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معالجة الرواتب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05840" y="420624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الصافي والخصومات · تقارير شهرية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81728" y="3675888"/>
            <a:ext cx="4251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81728" y="3675888"/>
            <a:ext cx="64008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4"/>
          <p:cNvSpPr/>
          <p:nvPr/>
        </p:nvSpPr>
        <p:spPr>
          <a:xfrm>
            <a:off x="4818888" y="3822192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7" name="Text 45"/>
          <p:cNvSpPr/>
          <p:nvPr/>
        </p:nvSpPr>
        <p:spPr>
          <a:xfrm>
            <a:off x="4818888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156448" y="3813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5486400" y="376732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المستثمر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486400" y="420624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إحصاءات تجميعية · تقارير عبر الفروع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52" name="Shape 50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28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96696"/>
            <a:ext cx="9144000" cy="54864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-365760"/>
            <a:ext cx="1371600" cy="13716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التقنية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0" y="256032"/>
            <a:ext cx="2011680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25603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170432"/>
            <a:ext cx="8686800" cy="54864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70432"/>
            <a:ext cx="64008" cy="548640"/>
          </a:xfrm>
          <a:prstGeom prst="rect">
            <a:avLst/>
          </a:prstGeom>
          <a:solidFill>
            <a:srgbClr val="3178C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216152"/>
            <a:ext cx="457200" cy="457200"/>
          </a:xfrm>
          <a:prstGeom prst="ellipse">
            <a:avLst/>
          </a:prstGeom>
          <a:solidFill>
            <a:srgbClr val="3178C6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216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⚛️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2688" y="1280160"/>
            <a:ext cx="1188720" cy="329184"/>
          </a:xfrm>
          <a:prstGeom prst="rect">
            <a:avLst/>
          </a:prstGeom>
          <a:solidFill>
            <a:srgbClr val="3178C6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12801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86000" y="117043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+ React + TypeScript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1801368"/>
            <a:ext cx="8686800" cy="54864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1801368"/>
            <a:ext cx="64008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1847088"/>
            <a:ext cx="457200" cy="457200"/>
          </a:xfrm>
          <a:prstGeom prst="ellipse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🖥️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32688" y="1911096"/>
            <a:ext cx="1188720" cy="329184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191109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86000" y="1801368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 — 17 Endpoints جاهزة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8600" y="2432304"/>
            <a:ext cx="8686800" cy="54864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432304"/>
            <a:ext cx="64008" cy="54864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2478024"/>
            <a:ext cx="457200" cy="457200"/>
          </a:xfrm>
          <a:prstGeom prst="ellipse">
            <a:avLst/>
          </a:prstGeom>
          <a:solidFill>
            <a:srgbClr val="3ECF8E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478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🗄️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32688" y="2542032"/>
            <a:ext cx="1188720" cy="329184"/>
          </a:xfrm>
          <a:prstGeom prst="rect">
            <a:avLst/>
          </a:prstGeom>
          <a:solidFill>
            <a:srgbClr val="3ECF8E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" y="254203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286000" y="2432304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(PostgreSQL) + Prisma ORM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28600" y="3063240"/>
            <a:ext cx="8686800" cy="54864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3063240"/>
            <a:ext cx="64008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" y="3108960"/>
            <a:ext cx="457200" cy="457200"/>
          </a:xfrm>
          <a:prstGeom prst="ellipse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32688" y="3172968"/>
            <a:ext cx="1188720" cy="329184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32688" y="317296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286000" y="306324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PBKDF2 + RBAC — 8 مستويات صلاحية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28600" y="3694176"/>
            <a:ext cx="8686800" cy="54864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28600" y="3694176"/>
            <a:ext cx="6400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" y="3739896"/>
            <a:ext cx="457200" cy="457200"/>
          </a:xfrm>
          <a:prstGeom prst="ellipse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3739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32688" y="3803904"/>
            <a:ext cx="1188720" cy="329184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32688" y="380390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286000" y="3694176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فهرس مركب — استجابة &lt; 100ms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28600" y="4325112"/>
            <a:ext cx="8686800" cy="54864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28600" y="4325112"/>
            <a:ext cx="64008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Shape 44"/>
          <p:cNvSpPr/>
          <p:nvPr/>
        </p:nvSpPr>
        <p:spPr>
          <a:xfrm>
            <a:off x="365760" y="4370832"/>
            <a:ext cx="457200" cy="457200"/>
          </a:xfrm>
          <a:prstGeom prst="ellipse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32688" y="4434840"/>
            <a:ext cx="1188720" cy="329184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932688" y="443484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2286000" y="432511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يدعم 100+ فرع — Horizontal Scaling Ready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4285C"/>
          </a:solidFill>
          <a:ln/>
        </p:spPr>
      </p:sp>
      <p:sp>
        <p:nvSpPr>
          <p:cNvPr id="52" name="Shape 50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3" name="Text 5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28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96696"/>
            <a:ext cx="9144000" cy="54864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-365760"/>
            <a:ext cx="1371600" cy="13716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 — 5 طبقات حماية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0" y="256032"/>
            <a:ext cx="2011680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25603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170432"/>
            <a:ext cx="2286000" cy="356616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70432"/>
            <a:ext cx="2286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3716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🛡️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74320" y="28346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7373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886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Layers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0" y="1170432"/>
            <a:ext cx="6172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0" y="1170432"/>
            <a:ext cx="64008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2834640" y="126187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01568" y="12070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مصادقة JWT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01568" y="15087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توكن آمن · انتهاء 24 ساعة · تحقق في كل طلب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0" y="1892808"/>
            <a:ext cx="6172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0" y="1892808"/>
            <a:ext cx="64008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Shape 21"/>
          <p:cNvSpPr/>
          <p:nvPr/>
        </p:nvSpPr>
        <p:spPr>
          <a:xfrm>
            <a:off x="2834640" y="1984248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01568" y="192938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تحكم الصلاحيات (RBAC)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01568" y="223113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مستويات · مصفوفة صلاحيات دقيقة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0" y="2615184"/>
            <a:ext cx="6172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0" y="2615184"/>
            <a:ext cx="64008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2834640" y="270662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2834640" y="2706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01568" y="2651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عزل البيانات (Prisma Proxy)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01568" y="29535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فلترة تلقائية · منع التسرب بين الفروع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0" y="3337560"/>
            <a:ext cx="6172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0" y="3337560"/>
            <a:ext cx="6400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2834640" y="34290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28346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01568" y="337413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التحقق من المدخلات (Zod)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01568" y="36758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مخططات TypeScript · استعلامات Parameterized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0" y="4059936"/>
            <a:ext cx="6172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0" y="4059936"/>
            <a:ext cx="64008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1" name="Shape 39"/>
          <p:cNvSpPr/>
          <p:nvPr/>
        </p:nvSpPr>
        <p:spPr>
          <a:xfrm>
            <a:off x="2834640" y="4151376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2" name="Text 40"/>
          <p:cNvSpPr/>
          <p:nvPr/>
        </p:nvSpPr>
        <p:spPr>
          <a:xfrm>
            <a:off x="2834640" y="4151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401568" y="40965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سجل التدقيق والامتثال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401568" y="43982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كل العمليات · تتبع المستخدم · جاهز للتدقيق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28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96696"/>
            <a:ext cx="9144000" cy="54864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-365760"/>
            <a:ext cx="1371600" cy="13716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الأداء والمقاييس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0" y="256032"/>
            <a:ext cx="2011680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25603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1170432"/>
            <a:ext cx="2011680" cy="178308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1170432"/>
            <a:ext cx="20116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" y="1298448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1-5ms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01168" y="20848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سرعة الاستعلام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01168" y="2468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 13 فهرس مركب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95728" y="1170432"/>
            <a:ext cx="2011680" cy="178308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95728" y="1170432"/>
            <a:ext cx="20116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2395728" y="1298448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&lt;100ms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395728" y="20848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زمن استجابة API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95728" y="2468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شامل استعلام DB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90288" y="1170432"/>
            <a:ext cx="2011680" cy="178308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90288" y="1170432"/>
            <a:ext cx="20116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590288" y="1298448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90288" y="20848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فرع مدعوم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90288" y="2468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Scaling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84848" y="1170432"/>
            <a:ext cx="2011680" cy="178308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84848" y="1170432"/>
            <a:ext cx="201168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784848" y="1298448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784848" y="20848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مستوى صلاحيات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84848" y="2468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Hierarchy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" y="3090672"/>
            <a:ext cx="8741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إحصاءات الكود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01168" y="3401568"/>
            <a:ext cx="8741664" cy="36576"/>
          </a:xfrm>
          <a:prstGeom prst="rect">
            <a:avLst/>
          </a:prstGeom>
          <a:solidFill>
            <a:srgbClr val="2563EB">
              <a:alpha val="5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01168" y="3529584"/>
            <a:ext cx="2011680" cy="132588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01168" y="3529584"/>
            <a:ext cx="2011680" cy="54864"/>
          </a:xfrm>
          <a:prstGeom prst="rect">
            <a:avLst/>
          </a:prstGeom>
          <a:solidFill>
            <a:srgbClr val="3178C6"/>
          </a:solidFill>
          <a:ln/>
        </p:spPr>
      </p:sp>
      <p:sp>
        <p:nvSpPr>
          <p:cNvPr id="33" name="Text 31"/>
          <p:cNvSpPr/>
          <p:nvPr/>
        </p:nvSpPr>
        <p:spPr>
          <a:xfrm>
            <a:off x="201168" y="36393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17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3,000+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201168" y="4251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سطر كود TypeScript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395728" y="3529584"/>
            <a:ext cx="2011680" cy="132588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395728" y="3529584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2395728" y="36393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2395728" y="4251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سطر توثيق شامل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90288" y="3529584"/>
            <a:ext cx="2011680" cy="132588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90288" y="3529584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4590288" y="36393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4590288" y="4251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API جاهزة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784848" y="3529584"/>
            <a:ext cx="2011680" cy="132588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784848" y="3529584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6784848" y="36393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6784848" y="4251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مخطط Zod للتحقق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4285C"/>
          </a:solidFill>
          <a:ln/>
        </p:spPr>
      </p:sp>
      <p:sp>
        <p:nvSpPr>
          <p:cNvPr id="48" name="Shape 46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9" name="Text 4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28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96696"/>
            <a:ext cx="9144000" cy="54864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-365760"/>
            <a:ext cx="1371600" cy="13716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حالة النشر والجاهزية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0" y="256032"/>
            <a:ext cx="2011680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25603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Ready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170432"/>
            <a:ext cx="8686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70432"/>
            <a:ext cx="64008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1271016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271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1207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البيانات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153619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منشأة بـ 13 فهرس مركب — أداء مُحسَّن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1764792"/>
            <a:ext cx="18288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347472" y="1764792"/>
            <a:ext cx="1828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2212848" y="169164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8686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1920240"/>
            <a:ext cx="64008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347472" y="202082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195681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نقاط API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22860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نقطة مختبرة وموثقة بالكامل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2514600"/>
            <a:ext cx="18288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347472" y="2514600"/>
            <a:ext cx="1828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2212848" y="244144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28600" y="2670048"/>
            <a:ext cx="8686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2670048"/>
            <a:ext cx="64008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347472" y="277063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27066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303580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طبقات حماية — مُتحقق منها بالكامل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7472" y="3264408"/>
            <a:ext cx="18288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Shape 32"/>
          <p:cNvSpPr/>
          <p:nvPr/>
        </p:nvSpPr>
        <p:spPr>
          <a:xfrm>
            <a:off x="347472" y="3264408"/>
            <a:ext cx="1828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2212848" y="3191256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8600" y="3419856"/>
            <a:ext cx="8686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" y="3419856"/>
            <a:ext cx="64008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Shape 36"/>
          <p:cNvSpPr/>
          <p:nvPr/>
        </p:nvSpPr>
        <p:spPr>
          <a:xfrm>
            <a:off x="347472" y="35204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347472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14400" y="34564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التوثيق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14400" y="378561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 سطر وثائق شاملة مع أمثلة curl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47472" y="4014216"/>
            <a:ext cx="18288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Shape 41"/>
          <p:cNvSpPr/>
          <p:nvPr/>
        </p:nvSpPr>
        <p:spPr>
          <a:xfrm>
            <a:off x="347472" y="4014216"/>
            <a:ext cx="1828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2212848" y="394106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28600" y="4169664"/>
            <a:ext cx="8686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28600" y="4169664"/>
            <a:ext cx="64008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7" name="Shape 45"/>
          <p:cNvSpPr/>
          <p:nvPr/>
        </p:nvSpPr>
        <p:spPr>
          <a:xfrm>
            <a:off x="347472" y="427024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347472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14400" y="4206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الاختبار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14400" y="453542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سكريبت اختبار شامل يغطي كل الحالات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47472" y="4764024"/>
            <a:ext cx="18288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50"/>
          <p:cNvSpPr/>
          <p:nvPr/>
        </p:nvSpPr>
        <p:spPr>
          <a:xfrm>
            <a:off x="347472" y="4764024"/>
            <a:ext cx="1828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2212848" y="46908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28600" y="4818888"/>
            <a:ext cx="8686800" cy="0"/>
          </a:xfrm>
          <a:prstGeom prst="rect">
            <a:avLst/>
          </a:prstGeom>
          <a:noFill/>
          <a:ln/>
        </p:spPr>
      </p:sp>
      <p:sp>
        <p:nvSpPr>
          <p:cNvPr id="55" name="Shape 53"/>
          <p:cNvSpPr/>
          <p:nvPr/>
        </p:nvSpPr>
        <p:spPr>
          <a:xfrm>
            <a:off x="228600" y="4709160"/>
            <a:ext cx="8686800" cy="164592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57" name="Shape 55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8" name="Text 5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2926080" cy="5079492"/>
          </a:xfrm>
          <a:prstGeom prst="rect">
            <a:avLst/>
          </a:prstGeom>
          <a:solidFill>
            <a:srgbClr val="14285C"/>
          </a:solidFill>
          <a:ln/>
        </p:spPr>
      </p:sp>
      <p:sp>
        <p:nvSpPr>
          <p:cNvPr id="4" name="Shape 2"/>
          <p:cNvSpPr/>
          <p:nvPr/>
        </p:nvSpPr>
        <p:spPr>
          <a:xfrm>
            <a:off x="2862072" y="64008"/>
            <a:ext cx="64008" cy="50794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-1097280" y="-457200"/>
            <a:ext cx="3200400" cy="3200400"/>
          </a:xfrm>
          <a:prstGeom prst="ellipse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3474720"/>
            <a:ext cx="2011680" cy="201168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1645920"/>
            <a:ext cx="640080" cy="640080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10972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🏫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91440" y="26060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16459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" y="38587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17520" y="73152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لكم</a:t>
            </a:r>
            <a:endParaRPr lang="en-US" sz="5200" dirty="0"/>
          </a:p>
        </p:txBody>
      </p:sp>
      <p:sp>
        <p:nvSpPr>
          <p:cNvPr id="13" name="Shape 11"/>
          <p:cNvSpPr/>
          <p:nvPr/>
        </p:nvSpPr>
        <p:spPr>
          <a:xfrm>
            <a:off x="3474720" y="2148840"/>
            <a:ext cx="2286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5806440" y="2148840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2304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إدارة المدارس متعدد الفروع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200400" y="3063240"/>
            <a:ext cx="1737360" cy="77724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3063240"/>
            <a:ext cx="173736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312724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آمن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20640" y="3063240"/>
            <a:ext cx="1737360" cy="77724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0" y="3063240"/>
            <a:ext cx="173736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12724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قابل للتوسع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40880" y="3063240"/>
            <a:ext cx="1737360" cy="777240"/>
          </a:xfrm>
          <a:prstGeom prst="rect">
            <a:avLst/>
          </a:prstGeom>
          <a:solidFill>
            <a:srgbClr val="1A3270"/>
          </a:solidFill>
          <a:ln/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40880" y="3063240"/>
            <a:ext cx="173736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312724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 للإنتاج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17520" y="404164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Multi-Branch School Management System  ·  April 2026  ·  Production Ready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نظام إدارة المدارس متعدد الفروع</dc:title>
  <dc:subject>PptxGenJS Presentation</dc:subject>
  <dc:creator>PptxGenJS</dc:creator>
  <cp:lastModifiedBy>PptxGenJS</cp:lastModifiedBy>
  <cp:revision>1</cp:revision>
  <dcterms:created xsi:type="dcterms:W3CDTF">2026-04-25T18:48:30Z</dcterms:created>
  <dcterms:modified xsi:type="dcterms:W3CDTF">2026-04-25T18:48:30Z</dcterms:modified>
</cp:coreProperties>
</file>